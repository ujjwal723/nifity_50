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934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73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96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68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81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24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49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29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46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72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34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23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5400" dirty="0"/>
              <a:t>NIFTY 50 Multi-Asset Algorithmic Trading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8"/>
            <a:ext cx="6269347" cy="134550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Subtitle :-Integrating HMM Regimes &amp; ML Filters with Options Greeks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Main objective :- </a:t>
            </a:r>
            <a:r>
              <a:rPr lang="en-US" dirty="0"/>
              <a:t>To build a high-performance trading pipeline using Spot, Futures, and Options data.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prepared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by:- Ujjwal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aggrawal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536E69-A6BE-F721-B48F-26D18516B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261257"/>
            <a:ext cx="4635315" cy="711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2CC4-1B6A-7C48-9206-ED56D1AD8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Data Architecture</a:t>
            </a:r>
            <a:r>
              <a:rPr lang="en-US" dirty="0"/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6CBB27-D453-E9F4-9E53-0E82FB415B7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9917" y="1709184"/>
            <a:ext cx="11495315" cy="4262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NIFTY 50 Spot: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5-minute OHLCV (1 Year).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NIFTY Futures: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Continuous contract with monthly rollover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NIFTY Options: ATM $\pm$ 2 strikes (Call &amp; Put). Engineering Process: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Cleaning: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Outlier removal (Z-score &gt; 3) and timestamp alignment.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Integration: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Merging disparate datasets into a unified 5-minute timeframe.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462FF-3B7E-435B-A74A-0DBD16527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858" y="137314"/>
            <a:ext cx="4018150" cy="256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69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6B49-9317-C57E-8882-825E0712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Feature Engineering &amp; Greeks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15CBE6B-2AA4-1309-E01F-8F8F5539CC5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2167285"/>
            <a:ext cx="1219199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 using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Black-Scholes Model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(Risk-free rate: 6.5%).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Delta, Gamma, Theta, Vega, and Rho.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 Alpha Features: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PCR (Put-Call Ratio):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Measures market sentiment.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Futures Basis: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Difference between Futures and Spot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Gamma Exposure: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potential "Squeeze" zones.</a:t>
            </a:r>
          </a:p>
        </p:txBody>
      </p:sp>
    </p:spTree>
    <p:extLst>
      <p:ext uri="{BB962C8B-B14F-4D97-AF65-F5344CB8AC3E}">
        <p14:creationId xmlns:p14="http://schemas.microsoft.com/office/powerpoint/2010/main" val="310646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77647-4D8F-FD36-5ECF-2E0C218B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Market Regime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DF583-9134-9E85-0E81-1953E11B6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1" y="-71598"/>
            <a:ext cx="4576870" cy="6416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CF6669-5AB4-753B-6DAE-582C7F47D5B4}"/>
              </a:ext>
            </a:extLst>
          </p:cNvPr>
          <p:cNvSpPr txBox="1"/>
          <p:nvPr/>
        </p:nvSpPr>
        <p:spPr>
          <a:xfrm>
            <a:off x="438539" y="2230016"/>
            <a:ext cx="72312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State +1 (Uptrend):</a:t>
            </a:r>
            <a:r>
              <a:rPr lang="en-US" sz="3200" dirty="0"/>
              <a:t> Positive drift, moderate volatility.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36990-817F-FB91-DB22-07D8AB643033}"/>
              </a:ext>
            </a:extLst>
          </p:cNvPr>
          <p:cNvSpPr txBox="1"/>
          <p:nvPr/>
        </p:nvSpPr>
        <p:spPr>
          <a:xfrm>
            <a:off x="438539" y="2808514"/>
            <a:ext cx="61115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b="1" dirty="0"/>
          </a:p>
          <a:p>
            <a:r>
              <a:rPr lang="en-US" sz="3200" b="1" dirty="0"/>
              <a:t>State -1 (Downtrend):</a:t>
            </a:r>
            <a:r>
              <a:rPr lang="en-US" sz="3200" dirty="0"/>
              <a:t> Negative drift, high volatility.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829CDB-0D07-B508-9BC0-D4B0B5AB7244}"/>
              </a:ext>
            </a:extLst>
          </p:cNvPr>
          <p:cNvSpPr txBox="1"/>
          <p:nvPr/>
        </p:nvSpPr>
        <p:spPr>
          <a:xfrm>
            <a:off x="354563" y="3429000"/>
            <a:ext cx="574143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/>
              <a:t>State 0 (Sideways):</a:t>
            </a:r>
            <a:r>
              <a:rPr lang="en-US" sz="3200" dirty="0"/>
              <a:t> Neutral drift, low volatility. </a:t>
            </a:r>
            <a:r>
              <a:rPr lang="en-US" sz="3200" b="1" dirty="0"/>
              <a:t>Inputs:</a:t>
            </a:r>
            <a:r>
              <a:rPr lang="en-US" sz="3200" dirty="0"/>
              <a:t> Average IV, IV Spread, PCR, and Futures Basis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60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EFC2-1C35-28E8-8EE9-A2638FA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03B42-A30C-DBEC-5A1E-8475C1B23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225716"/>
            <a:ext cx="6021172" cy="151164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B37D744-145B-374E-9EB7-CE1B9242C3E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69167" y="2240817"/>
            <a:ext cx="105865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EMA(5) &gt; EMA(15)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HMM Regime = +1.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EMA(5) &lt; EMA(15)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HMM Regime = -1.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trades executed in Regime 0 to avoid "Chop" or "Whipsaws."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Enter/Exit at the next candle open.</a:t>
            </a:r>
          </a:p>
        </p:txBody>
      </p:sp>
    </p:spTree>
    <p:extLst>
      <p:ext uri="{BB962C8B-B14F-4D97-AF65-F5344CB8AC3E}">
        <p14:creationId xmlns:p14="http://schemas.microsoft.com/office/powerpoint/2010/main" val="250569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03F8-36CC-CF5A-32EB-28840208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u="sng" dirty="0"/>
              <a:t>Machine Learning Enhancement</a:t>
            </a:r>
            <a:r>
              <a:rPr lang="en-US" sz="44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FABC7E-25E9-6A04-618D-7171E343F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492" y="0"/>
            <a:ext cx="3159594" cy="634481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01A2C9A-F403-5C87-2DF3-C30A842BAA6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7199" y="2125985"/>
            <a:ext cx="8210939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Model: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XGBoost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Binary Classifier.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Target: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Predict if a generated signal will result in a profit &gt;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Logic: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Even if a trend is detected, the ML model may veto the trade if Options positioning (Gamma/IV) suggests a fake-out.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Confidence Threshold: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$P(Profit) &gt; 0.5$.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6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03490-E31C-35A9-773C-78F22365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 err="1"/>
              <a:t>Backtesting</a:t>
            </a:r>
            <a:r>
              <a:rPr lang="en-US" b="1" i="1" u="sng" dirty="0"/>
              <a:t>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D563D-9C2B-CCA5-F9D0-FBFBBF4BE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410" y="1"/>
            <a:ext cx="4957590" cy="6335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EC95F4-30B0-F13C-7AF2-8CD2288B0245}"/>
              </a:ext>
            </a:extLst>
          </p:cNvPr>
          <p:cNvSpPr txBox="1"/>
          <p:nvPr/>
        </p:nvSpPr>
        <p:spPr>
          <a:xfrm>
            <a:off x="139959" y="1922107"/>
            <a:ext cx="709445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Training Set:</a:t>
            </a:r>
            <a:r>
              <a:rPr lang="en-US" sz="3200" dirty="0"/>
              <a:t> First 70% | </a:t>
            </a:r>
            <a:r>
              <a:rPr lang="en-US" sz="3200" b="1" dirty="0"/>
              <a:t>Testing Set:</a:t>
            </a:r>
            <a:r>
              <a:rPr lang="en-US" sz="3200" dirty="0"/>
              <a:t> Last 30%.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Baseline:</a:t>
            </a:r>
            <a:r>
              <a:rPr lang="en-US" sz="3200" dirty="0"/>
              <a:t> Standard EMA Crossover.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Enhanced:</a:t>
            </a:r>
            <a:r>
              <a:rPr lang="en-US" sz="3200" dirty="0"/>
              <a:t> EMA + HMM + </a:t>
            </a:r>
            <a:r>
              <a:rPr lang="en-US" sz="3200" dirty="0" err="1"/>
              <a:t>XGBoost</a:t>
            </a:r>
            <a:r>
              <a:rPr lang="en-US" sz="3200" dirty="0"/>
              <a:t>. </a:t>
            </a:r>
            <a:r>
              <a:rPr lang="en-US" sz="3200" b="1" dirty="0"/>
              <a:t>Key Performance Indicators (KPIs):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Sharpe Ratio Improvement.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Reduction in Max Drawdown.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Higher Win Rate via ML filtering.</a:t>
            </a:r>
          </a:p>
        </p:txBody>
      </p:sp>
    </p:spTree>
    <p:extLst>
      <p:ext uri="{BB962C8B-B14F-4D97-AF65-F5344CB8AC3E}">
        <p14:creationId xmlns:p14="http://schemas.microsoft.com/office/powerpoint/2010/main" val="1583503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780E-21A5-47A8-0F0A-4314C9FE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High-Performance Outlier Analysis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93B483-53EB-7E17-6852-74481FFD76A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9877" y="2377229"/>
            <a:ext cx="1177212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Trades with Z-score &gt; 3 in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PnL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Outliers typically occur during high Gamma Exposure and narrowing IV Spreads.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of Day: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Concentration of high-alpha trades during the first and last hours of the market.</a:t>
            </a:r>
          </a:p>
        </p:txBody>
      </p:sp>
    </p:spTree>
    <p:extLst>
      <p:ext uri="{BB962C8B-B14F-4D97-AF65-F5344CB8AC3E}">
        <p14:creationId xmlns:p14="http://schemas.microsoft.com/office/powerpoint/2010/main" val="306042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007F-01EC-80F9-8CB1-3B5491482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Statistical 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DFD78F-7EA9-161B-F46A-3824E4967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480428"/>
              </p:ext>
            </p:extLst>
          </p:nvPr>
        </p:nvGraphicFramePr>
        <p:xfrm>
          <a:off x="419878" y="1931437"/>
          <a:ext cx="10735485" cy="2895600"/>
        </p:xfrm>
        <a:graphic>
          <a:graphicData uri="http://schemas.openxmlformats.org/drawingml/2006/table">
            <a:tbl>
              <a:tblPr/>
              <a:tblGrid>
                <a:gridCol w="3578495">
                  <a:extLst>
                    <a:ext uri="{9D8B030D-6E8A-4147-A177-3AD203B41FA5}">
                      <a16:colId xmlns:a16="http://schemas.microsoft.com/office/drawing/2014/main" val="1221070337"/>
                    </a:ext>
                  </a:extLst>
                </a:gridCol>
                <a:gridCol w="3578495">
                  <a:extLst>
                    <a:ext uri="{9D8B030D-6E8A-4147-A177-3AD203B41FA5}">
                      <a16:colId xmlns:a16="http://schemas.microsoft.com/office/drawing/2014/main" val="1727764246"/>
                    </a:ext>
                  </a:extLst>
                </a:gridCol>
                <a:gridCol w="3578495">
                  <a:extLst>
                    <a:ext uri="{9D8B030D-6E8A-4147-A177-3AD203B41FA5}">
                      <a16:colId xmlns:a16="http://schemas.microsoft.com/office/drawing/2014/main" val="1385658107"/>
                    </a:ext>
                  </a:extLst>
                </a:gridCol>
              </a:tblGrid>
              <a:tr h="568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ML-Enhanced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837295"/>
                  </a:ext>
                </a:extLst>
              </a:tr>
              <a:tr h="568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Win Rate</a:t>
                      </a:r>
                      <a:endParaRPr lang="en-US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42%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58%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835924"/>
                  </a:ext>
                </a:extLst>
              </a:tr>
              <a:tr h="568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Sharpe Ratio</a:t>
                      </a:r>
                      <a:endParaRPr lang="en-US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1.62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20818"/>
                  </a:ext>
                </a:extLst>
              </a:tr>
              <a:tr h="568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Max Drawdown</a:t>
                      </a:r>
                      <a:endParaRPr lang="en-US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-18%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418122"/>
                  </a:ext>
                </a:extLst>
              </a:tr>
              <a:tr h="568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Profit Factor</a:t>
                      </a:r>
                      <a:endParaRPr lang="en-US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2.1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20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384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C5E6-1594-5111-FBE4-9C503E4C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206185-0975-98B3-F6F7-ACA144D58D9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5273" y="2171776"/>
            <a:ext cx="1198672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Multi-asset data provides a 3D view of the market.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Regime detection is the most effective way to reduce "noise."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filters can significantly improve the quality of trend-following entries.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Paper Trading via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Zerodha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/ICICI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"Order Flow" features (Volume Clusters).</a:t>
            </a:r>
          </a:p>
        </p:txBody>
      </p:sp>
    </p:spTree>
    <p:extLst>
      <p:ext uri="{BB962C8B-B14F-4D97-AF65-F5344CB8AC3E}">
        <p14:creationId xmlns:p14="http://schemas.microsoft.com/office/powerpoint/2010/main" val="3821221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D411E3-4D94-5726-0A84-AB2C8DB78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824" y="528216"/>
            <a:ext cx="8434873" cy="510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725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</TotalTime>
  <Words>520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Google Sans Text</vt:lpstr>
      <vt:lpstr>Retrospect</vt:lpstr>
      <vt:lpstr>NIFTY 50 Multi-Asset Algorithmic Trading System</vt:lpstr>
      <vt:lpstr>Data Architecture </vt:lpstr>
      <vt:lpstr>Feature Engineering &amp; Greeks</vt:lpstr>
      <vt:lpstr>Market Regime Detection</vt:lpstr>
      <vt:lpstr>PowerPoint Presentation</vt:lpstr>
      <vt:lpstr>Machine Learning Enhancement </vt:lpstr>
      <vt:lpstr>Backtesting Results</vt:lpstr>
      <vt:lpstr>High-Performance Outlier Analysis</vt:lpstr>
      <vt:lpstr>Statistical Comparison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ujjwalaggarwal123@outlook.com</dc:creator>
  <cp:lastModifiedBy>ujjwalaggarwal123@outlook.com</cp:lastModifiedBy>
  <cp:revision>1</cp:revision>
  <dcterms:created xsi:type="dcterms:W3CDTF">2026-01-17T13:30:02Z</dcterms:created>
  <dcterms:modified xsi:type="dcterms:W3CDTF">2026-01-17T14:48:24Z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